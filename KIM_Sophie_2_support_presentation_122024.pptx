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9" r:id="rId12"/>
    <p:sldId id="265" r:id="rId13"/>
    <p:sldId id="280" r:id="rId14"/>
    <p:sldId id="266" r:id="rId15"/>
    <p:sldId id="268" r:id="rId16"/>
    <p:sldId id="267" r:id="rId17"/>
    <p:sldId id="281" r:id="rId18"/>
    <p:sldId id="282" r:id="rId19"/>
    <p:sldId id="283" r:id="rId20"/>
    <p:sldId id="284" r:id="rId21"/>
    <p:sldId id="285" r:id="rId22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4"/>
      <p:bold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60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258" autoAdjust="0"/>
  </p:normalViewPr>
  <p:slideViewPr>
    <p:cSldViewPr snapToGrid="0">
      <p:cViewPr varScale="1">
        <p:scale>
          <a:sx n="71" d="100"/>
          <a:sy n="71" d="100"/>
        </p:scale>
        <p:origin x="11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données initiales proviennent de 3 bases de données différentes: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Les valeurs foncières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Le référentiel géographique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Les données communes</a:t>
            </a:r>
            <a:endParaRPr dirty="0"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Extrait du dictionnaire des données </a:t>
            </a:r>
            <a:endParaRPr dirty="0"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538CBA9-A127-CCBF-1B3E-90C8BC47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4200769A-0275-D1D7-364E-2A9FEBA7A8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96FB13FC-8612-2C46-9457-D604B6FC47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8AB2E07C-D8BA-F402-0C96-66269E99EB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6055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026A3338-C541-2E2E-7F48-EBDD3CFBE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C6F64CD-B0B3-FD7D-687B-B83D7E285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E9100154-B193-F786-0DE6-463D7E9C2C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022B9010-8916-347E-F5CA-7DB8610D9B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7106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C664241F-CE9E-A990-2A0D-75D49710D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>
            <a:extLst>
              <a:ext uri="{FF2B5EF4-FFF2-40B4-BE49-F238E27FC236}">
                <a16:creationId xmlns:a16="http://schemas.microsoft.com/office/drawing/2014/main" id="{F93A44B6-A68C-15B3-6CFA-81C5836CA9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>
            <a:extLst>
              <a:ext uri="{FF2B5EF4-FFF2-40B4-BE49-F238E27FC236}">
                <a16:creationId xmlns:a16="http://schemas.microsoft.com/office/drawing/2014/main" id="{25321D4E-D422-39FA-676F-43B1567B59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g25c099360e7_3_209:notes">
            <a:extLst>
              <a:ext uri="{FF2B5EF4-FFF2-40B4-BE49-F238E27FC236}">
                <a16:creationId xmlns:a16="http://schemas.microsoft.com/office/drawing/2014/main" id="{57D71FD0-25DF-74BC-EEB6-DA4CC894A9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8842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2233BF38-771C-0D14-EC89-42D39429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FC7F5C8F-6ECA-A55D-9CEC-214F0F57D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752A4E7C-34E1-3C99-B13A-3560AF5D59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DCBACD1A-9FDC-0EB9-B273-5A7779821C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4075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897E282-8674-5E38-BBAE-6553A933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EF01B417-D34D-C15E-8DCB-C487F9831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7858C1F2-33A9-BFD8-ADB5-E7AD2C9F1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E301E24B-E2BE-0FB8-823F-983D4F367B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0091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24699D72-9D5F-39C5-55B5-F715C62DB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869584E-B99D-14C7-77B6-B7EAEEA56F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959D5311-94A0-5854-4676-8033F91F8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7964F105-07B5-9490-4A79-C874258745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0134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059ABA66-99D2-BCBF-2259-C83B5EAB3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A3DE7749-6EA9-90DC-6EA5-3CC9719C7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03D3FC2F-16D0-467C-9061-C6E15CEAC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8B3DA8C9-FE46-C7B3-2EFD-0355FEAD17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2866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D0AE55FE-8382-7CE5-8FF4-022F4D6E5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5C588C2E-8648-8F43-E8C9-E9E1C2DFEE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65B2D9A9-BDFD-41D2-DDBA-7422FE5C8B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11B0A0AC-73B7-5167-0216-2C64B7AF2F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2745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B71AB85A-8595-DAF9-0B7C-729D79A60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EE572E85-60EC-110E-3796-6EB07D665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D7212446-2A80-8ACB-FF46-1E95434217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1BE9E342-C058-2CDC-6EBD-B8DB976D46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0255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pixabay.com/fr/?utm_source=link-attribution&amp;utm_medium=referral&amp;utm_campaign=image&amp;utm_content=1752415" TargetMode="External"/><Relationship Id="rId4" Type="http://schemas.openxmlformats.org/officeDocument/2006/relationships/hyperlink" Target="https://pixabay.com/fr/users/geralt-9301/?utm_source=link-attribution&amp;utm_medium=referral&amp;utm_campaign=image&amp;utm_content=1752415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fr/users/tranquangkhai-718075/?utm_source=link-attribution&amp;utm_medium=referral&amp;utm_campaign=image&amp;utm_content=6491205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pixabay.com/fr/?utm_source=link-attribution&amp;utm_medium=referral&amp;utm_campaign=image&amp;utm_content=550063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pixabay.com/fr/users/geographyteacherytc-17959015/?utm_source=link-attribution&amp;utm_medium=referral&amp;utm_campaign=image&amp;utm_content=5500630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s://pixabay.com/fr/?utm_source=link-attribution&amp;utm_medium=referral&amp;utm_campaign=image&amp;utm_content=145823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pixabay.com/fr/users/openclipart-vectors-30363/?utm_source=link-attribution&amp;utm_medium=referral&amp;utm_campaign=image&amp;utm_content=145823" TargetMode="External"/><Relationship Id="rId9" Type="http://schemas.openxmlformats.org/officeDocument/2006/relationships/hyperlink" Target="https://pixabay.com/fr/?utm_source=link-attribution&amp;utm_medium=referral&amp;utm_campaign=image&amp;utm_content=6491205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645709"/>
            <a:ext cx="3640374" cy="251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br>
              <a:rPr lang="fr" dirty="0">
                <a:solidFill>
                  <a:srgbClr val="E26064"/>
                </a:solidFill>
              </a:rPr>
            </a:br>
            <a:r>
              <a:rPr lang="fr" sz="4400" dirty="0">
                <a:solidFill>
                  <a:srgbClr val="E26064"/>
                </a:solidFill>
              </a:rPr>
              <a:t>Indicateurs et </a:t>
            </a:r>
            <a:br>
              <a:rPr lang="fr" sz="4400" dirty="0">
                <a:solidFill>
                  <a:srgbClr val="E26064"/>
                </a:solidFill>
              </a:rPr>
            </a:br>
            <a:r>
              <a:rPr lang="fr" sz="4400" dirty="0">
                <a:solidFill>
                  <a:srgbClr val="E26064"/>
                </a:solidFill>
              </a:rPr>
              <a:t>état du marché</a:t>
            </a:r>
            <a:br>
              <a:rPr lang="fr" sz="4400" dirty="0">
                <a:solidFill>
                  <a:srgbClr val="E26064"/>
                </a:solidFill>
              </a:rPr>
            </a:br>
            <a:r>
              <a:rPr lang="fr" sz="4400" dirty="0">
                <a:solidFill>
                  <a:srgbClr val="E26064"/>
                </a:solidFill>
              </a:rPr>
              <a:t>immobilier </a:t>
            </a:r>
            <a:br>
              <a:rPr lang="fr" dirty="0">
                <a:solidFill>
                  <a:srgbClr val="E26064"/>
                </a:solidFill>
              </a:rPr>
            </a:br>
            <a:br>
              <a:rPr lang="fr" dirty="0">
                <a:solidFill>
                  <a:srgbClr val="E26064"/>
                </a:solidFill>
              </a:rPr>
            </a:br>
            <a:r>
              <a:rPr lang="fr" sz="2200" dirty="0">
                <a:solidFill>
                  <a:srgbClr val="E26064"/>
                </a:solidFill>
              </a:rPr>
              <a:t>Création et utilisation </a:t>
            </a:r>
            <a:br>
              <a:rPr lang="fr" sz="2200" dirty="0">
                <a:solidFill>
                  <a:srgbClr val="E26064"/>
                </a:solidFill>
              </a:rPr>
            </a:br>
            <a:r>
              <a:rPr lang="fr" sz="2200" dirty="0">
                <a:solidFill>
                  <a:srgbClr val="E26064"/>
                </a:solidFill>
              </a:rPr>
              <a:t>de la base de données</a:t>
            </a:r>
            <a:endParaRPr sz="2200" dirty="0">
              <a:solidFill>
                <a:srgbClr val="E26064"/>
              </a:solidFill>
            </a:endParaRPr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3156045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" dirty="0">
              <a:solidFill>
                <a:schemeClr val="bg2">
                  <a:lumMod val="25000"/>
                </a:schemeClr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>
                <a:solidFill>
                  <a:schemeClr val="bg2">
                    <a:lumMod val="25000"/>
                  </a:schemeClr>
                </a:solidFill>
              </a:rPr>
              <a:t>Sophie KIM</a:t>
            </a:r>
            <a:endParaRPr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dirty="0">
                <a:solidFill>
                  <a:srgbClr val="E26064"/>
                </a:solidFill>
              </a:rPr>
              <a:t>Contexte du projet</a:t>
            </a:r>
            <a:endParaRPr dirty="0">
              <a:solidFill>
                <a:srgbClr val="E26064"/>
              </a:solidFill>
            </a:endParaRPr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fr" dirty="0">
                <a:solidFill>
                  <a:schemeClr val="bg2">
                    <a:lumMod val="25000"/>
                  </a:schemeClr>
                </a:solidFill>
              </a:rPr>
              <a:t>Tests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fr" dirty="0">
                <a:solidFill>
                  <a:schemeClr val="bg2">
                    <a:lumMod val="25000"/>
                  </a:schemeClr>
                </a:solidFill>
              </a:rPr>
              <a:t>Données immobilières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fr" dirty="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fr" baseline="30000" dirty="0">
                <a:solidFill>
                  <a:schemeClr val="bg2">
                    <a:lumMod val="25000"/>
                  </a:schemeClr>
                </a:solidFill>
              </a:rPr>
              <a:t>er</a:t>
            </a:r>
            <a:r>
              <a:rPr lang="fr" dirty="0">
                <a:solidFill>
                  <a:schemeClr val="bg2">
                    <a:lumMod val="25000"/>
                  </a:schemeClr>
                </a:solidFill>
              </a:rPr>
              <a:t> semestre 2020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endParaRPr lang="fr" dirty="0">
              <a:solidFill>
                <a:schemeClr val="bg2">
                  <a:lumMod val="25000"/>
                </a:schemeClr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6064"/>
              </a:buClr>
              <a:buSzPts val="1800"/>
              <a:buChar char="•"/>
            </a:pPr>
            <a:r>
              <a:rPr lang="fr" dirty="0">
                <a:solidFill>
                  <a:schemeClr val="bg2">
                    <a:lumMod val="25000"/>
                  </a:schemeClr>
                </a:solidFill>
              </a:rPr>
              <a:t>Méthodologie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29BE3B5-D73C-3A91-37E4-D7237BA5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100" y="-713442"/>
            <a:ext cx="9394199" cy="626035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4D7A5CB-64A9-DC5D-03E1-E79186A10A41}"/>
              </a:ext>
            </a:extLst>
          </p:cNvPr>
          <p:cNvSpPr txBox="1"/>
          <p:nvPr/>
        </p:nvSpPr>
        <p:spPr>
          <a:xfrm>
            <a:off x="0" y="4767263"/>
            <a:ext cx="4787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Crédit : Image par </a:t>
            </a:r>
            <a:r>
              <a:rPr lang="en-GB" sz="1200" b="0" i="0" u="sng" dirty="0">
                <a:solidFill>
                  <a:schemeClr val="bg1"/>
                </a:solidFill>
                <a:effectLst/>
                <a:latin typeface="Open Sans" panose="020B06060305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Gerd Altmann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 de </a:t>
            </a:r>
            <a:r>
              <a:rPr lang="en-GB" sz="1200" b="0" i="0" u="sng" dirty="0" err="1">
                <a:solidFill>
                  <a:schemeClr val="bg1"/>
                </a:solidFill>
                <a:effectLst/>
                <a:latin typeface="Open Sans" panose="020B0606030504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Les données initiales</a:t>
            </a:r>
            <a:endParaRPr sz="2800" b="0" dirty="0">
              <a:solidFill>
                <a:srgbClr val="E26064"/>
              </a:solidFill>
            </a:endParaRPr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58606CB-5866-8198-92E4-645A0940F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96" y="1885040"/>
            <a:ext cx="1616409" cy="178824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1F186F1-DDDA-DCA3-B3CA-19F86D77DF16}"/>
              </a:ext>
            </a:extLst>
          </p:cNvPr>
          <p:cNvSpPr txBox="1"/>
          <p:nvPr/>
        </p:nvSpPr>
        <p:spPr>
          <a:xfrm>
            <a:off x="211925" y="4387766"/>
            <a:ext cx="8256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Crédits (de gauche à droite):</a:t>
            </a:r>
            <a:r>
              <a:rPr lang="fr-FR" sz="1200" b="0" i="0" dirty="0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Image par </a:t>
            </a:r>
            <a:r>
              <a:rPr lang="fr-FR" sz="1200" b="0" i="0" u="sng" dirty="0" err="1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OpenClipart-Vectors</a:t>
            </a:r>
            <a:r>
              <a:rPr lang="fr-FR" sz="1200" b="0" i="0" dirty="0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de </a:t>
            </a:r>
            <a:r>
              <a:rPr lang="fr-FR" sz="1200" b="0" i="0" u="sng" dirty="0" err="1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Pixabay</a:t>
            </a:r>
            <a:r>
              <a:rPr lang="fr-FR" sz="1200" b="0" i="0" u="sng" dirty="0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1200" b="0" i="0" dirty="0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Image par </a:t>
            </a:r>
            <a:r>
              <a:rPr lang="en-GB" sz="1200" b="0" i="0" u="sng" dirty="0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6"/>
              </a:rPr>
              <a:t>Geography Teacher - YouTube Channel</a:t>
            </a:r>
            <a:r>
              <a:rPr lang="en-GB" sz="1200" b="0" i="0" dirty="0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de </a:t>
            </a:r>
            <a:r>
              <a:rPr lang="en-GB" sz="1200" b="0" i="0" u="sng" dirty="0" err="1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7"/>
              </a:rPr>
              <a:t>Pixabay</a:t>
            </a:r>
            <a:r>
              <a:rPr lang="en-GB" sz="1200" b="0" i="0" u="sng" dirty="0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 </a:t>
            </a:r>
            <a:r>
              <a:rPr lang="fr-FR" sz="1200" b="0" i="0" dirty="0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Image par </a:t>
            </a:r>
            <a:r>
              <a:rPr lang="fr-FR" sz="1200" b="0" i="0" u="sng" dirty="0" err="1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8"/>
              </a:rPr>
              <a:t>Khai</a:t>
            </a:r>
            <a:r>
              <a:rPr lang="fr-FR" sz="1200" b="0" i="0" u="sng" dirty="0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8"/>
              </a:rPr>
              <a:t> </a:t>
            </a:r>
            <a:r>
              <a:rPr lang="fr-FR" sz="1200" b="0" i="0" u="sng" dirty="0" err="1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8"/>
              </a:rPr>
              <a:t>TranQuang</a:t>
            </a:r>
            <a:r>
              <a:rPr lang="fr-FR" sz="1200" b="0" i="0" dirty="0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de </a:t>
            </a:r>
            <a:r>
              <a:rPr lang="fr-FR" sz="1200" b="0" i="0" u="sng" dirty="0" err="1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9"/>
              </a:rPr>
              <a:t>Pixabay</a:t>
            </a:r>
            <a:r>
              <a:rPr lang="fr-FR" sz="1200" b="0" i="0" u="sng" dirty="0">
                <a:solidFill>
                  <a:srgbClr val="191B26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GB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BAB6682-E986-7903-CB6D-7DA52AF2E7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0411" y="1814338"/>
            <a:ext cx="1483178" cy="184855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716580A-C8F1-D3E9-B1E4-31C7175881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4225" y="1808922"/>
            <a:ext cx="1483178" cy="18539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044B4B-4076-4644-EFF4-8582B8BC6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5" y="1584928"/>
            <a:ext cx="9144000" cy="19736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Le schéma relationnel normalisé</a:t>
            </a:r>
            <a:endParaRPr sz="2800" b="0" dirty="0">
              <a:solidFill>
                <a:srgbClr val="E26064"/>
              </a:solidFill>
            </a:endParaRPr>
          </a:p>
        </p:txBody>
      </p:sp>
      <p:sp>
        <p:nvSpPr>
          <p:cNvPr id="305" name="Google Shape;305;p3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7F6E40D-1C74-1DD3-66FA-1F5460978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757" y="839154"/>
            <a:ext cx="5885432" cy="37495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253897" y="517110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La base de données avec les tables créées et les données chargées</a:t>
            </a:r>
            <a:endParaRPr sz="2800" b="0" dirty="0">
              <a:solidFill>
                <a:srgbClr val="E26064"/>
              </a:solidFill>
            </a:endParaRPr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62BB26-B53D-1244-A0F6-33FC356E8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068" y="1463375"/>
            <a:ext cx="5839402" cy="35497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19381" y="826622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Les requêtes ou screenshot qui permettent de démontrer le bon chargement des données</a:t>
            </a:r>
            <a:endParaRPr sz="2800" b="0" dirty="0">
              <a:solidFill>
                <a:srgbClr val="E26064"/>
              </a:solidFill>
            </a:endParaRPr>
          </a:p>
        </p:txBody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3B302D-F1A0-1C2A-82FF-270EA796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863" y="2116280"/>
            <a:ext cx="569595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dirty="0">
                <a:solidFill>
                  <a:srgbClr val="E26064"/>
                </a:solidFill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 dirty="0">
              <a:solidFill>
                <a:srgbClr val="E26064"/>
              </a:solidFill>
            </a:endParaRPr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DEA915F-9BBD-8F29-2AB2-61D828135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B9B53C24-3D3C-D5A8-5640-7DD736EEC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0B6C2681-FCFF-D338-6355-F9E9344E28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Requête 1 </a:t>
            </a:r>
            <a:r>
              <a:rPr lang="fr" sz="1500" b="0" dirty="0">
                <a:solidFill>
                  <a:srgbClr val="E26064"/>
                </a:solidFill>
              </a:rPr>
              <a:t>(indicateur quantitatif)</a:t>
            </a:r>
            <a:endParaRPr sz="1500" dirty="0">
              <a:solidFill>
                <a:srgbClr val="E26064"/>
              </a:solidFill>
            </a:endParaRPr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F46E21A9-08D1-FECA-9263-115446D69AA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AA3F4937-CDB0-283B-3B07-F9F8B0B06A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41472E8A-861E-1E0F-ADF2-A7CC47620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Nombre total d’appartements vendus au 1er semestre 2020.</a:t>
            </a:r>
            <a:endParaRPr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51E5DF3-C78B-DC80-90B2-27A6EB8A0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435" y="1504321"/>
            <a:ext cx="5795402" cy="100425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25E9346-A12B-E50F-E61D-2AECEC265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435" y="3048941"/>
            <a:ext cx="5705475" cy="157162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69E8FE2-3E4F-F728-C180-51010979D931}"/>
              </a:ext>
            </a:extLst>
          </p:cNvPr>
          <p:cNvSpPr txBox="1"/>
          <p:nvPr/>
        </p:nvSpPr>
        <p:spPr>
          <a:xfrm>
            <a:off x="762001" y="1498013"/>
            <a:ext cx="1407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Requête SQL : </a:t>
            </a:r>
            <a:endParaRPr lang="en-GB" sz="1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79F401C-22D2-067F-B29C-9FFAF4689031}"/>
              </a:ext>
            </a:extLst>
          </p:cNvPr>
          <p:cNvSpPr txBox="1"/>
          <p:nvPr/>
        </p:nvSpPr>
        <p:spPr>
          <a:xfrm>
            <a:off x="762001" y="3048941"/>
            <a:ext cx="1407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Résultat : </a:t>
            </a:r>
            <a:endParaRPr lang="en-GB" sz="1200" dirty="0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3138FA93-4141-ADA6-3C34-F872F5D892AC}"/>
              </a:ext>
            </a:extLst>
          </p:cNvPr>
          <p:cNvSpPr/>
          <p:nvPr/>
        </p:nvSpPr>
        <p:spPr>
          <a:xfrm>
            <a:off x="5039856" y="2516648"/>
            <a:ext cx="484632" cy="486573"/>
          </a:xfrm>
          <a:prstGeom prst="downArrow">
            <a:avLst/>
          </a:prstGeom>
          <a:solidFill>
            <a:srgbClr val="E26064"/>
          </a:solidFill>
          <a:ln>
            <a:solidFill>
              <a:srgbClr val="E26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9374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Insights 1 issus des indicateurs quantitatifs</a:t>
            </a:r>
            <a:endParaRPr sz="2800" dirty="0">
              <a:solidFill>
                <a:srgbClr val="E26064"/>
              </a:solidFill>
            </a:endParaRPr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1808776" y="1362308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b="1" dirty="0">
                <a:solidFill>
                  <a:srgbClr val="E26064"/>
                </a:solidFill>
              </a:rPr>
              <a:t>31 378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Appartements vendus au S1 2020</a:t>
            </a:r>
            <a:endParaRPr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Google Shape;344;p42">
            <a:extLst>
              <a:ext uri="{FF2B5EF4-FFF2-40B4-BE49-F238E27FC236}">
                <a16:creationId xmlns:a16="http://schemas.microsoft.com/office/drawing/2014/main" id="{EDADC089-5C0D-E24D-53D2-0DA7E1FCC42C}"/>
              </a:ext>
            </a:extLst>
          </p:cNvPr>
          <p:cNvSpPr txBox="1">
            <a:spLocks/>
          </p:cNvSpPr>
          <p:nvPr/>
        </p:nvSpPr>
        <p:spPr>
          <a:xfrm>
            <a:off x="867772" y="2571750"/>
            <a:ext cx="7408454" cy="61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fr-FR" sz="2000" b="1" dirty="0">
                <a:solidFill>
                  <a:srgbClr val="E26064"/>
                </a:solidFill>
              </a:rPr>
              <a:t>Île-de-France   Provence-Alpes-Côte d’Azur   Auvergne-Rhône-Alpes</a:t>
            </a:r>
          </a:p>
          <a:p>
            <a:pPr marL="0" indent="0" algn="ctr">
              <a:spcBef>
                <a:spcPts val="0"/>
              </a:spcBef>
            </a:pPr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Régions ayant enregistrés le plus de transactions au S1 2020</a:t>
            </a:r>
          </a:p>
        </p:txBody>
      </p:sp>
      <p:sp>
        <p:nvSpPr>
          <p:cNvPr id="8" name="Google Shape;344;p42">
            <a:extLst>
              <a:ext uri="{FF2B5EF4-FFF2-40B4-BE49-F238E27FC236}">
                <a16:creationId xmlns:a16="http://schemas.microsoft.com/office/drawing/2014/main" id="{0C20DD1F-1588-D18F-90DE-AACD1976B00D}"/>
              </a:ext>
            </a:extLst>
          </p:cNvPr>
          <p:cNvSpPr txBox="1">
            <a:spLocks/>
          </p:cNvSpPr>
          <p:nvPr/>
        </p:nvSpPr>
        <p:spPr>
          <a:xfrm>
            <a:off x="867772" y="3798038"/>
            <a:ext cx="7408454" cy="61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fr-FR" sz="2000" b="1" dirty="0">
                <a:solidFill>
                  <a:srgbClr val="E26064"/>
                </a:solidFill>
              </a:rPr>
              <a:t>+ 3,68%</a:t>
            </a:r>
          </a:p>
          <a:p>
            <a:pPr marL="0" indent="0" algn="ctr">
              <a:spcBef>
                <a:spcPts val="0"/>
              </a:spcBef>
            </a:pPr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Taux d’évolution des ventes tout type de logement confondu au S1 2020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219EDBED-0A02-1C4F-870A-12F47244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B1EA257F-C75A-5664-8E02-E3930628FF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0043" y="317968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Insights 2 issus des indicateurs de valeurs foncieères</a:t>
            </a:r>
            <a:endParaRPr sz="2800" dirty="0">
              <a:solidFill>
                <a:srgbClr val="E26064"/>
              </a:solidFill>
            </a:endParaRPr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6A56D487-AF92-C56C-7236-946462F1EE4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8AB892CF-C352-01F9-4BF9-311B5713F7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A78DC81E-4122-30F4-E5D8-25B5568C81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08776" y="1362308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sz="2000" b="1" dirty="0">
                <a:solidFill>
                  <a:srgbClr val="E26064"/>
                </a:solidFill>
              </a:rPr>
              <a:t>Paris   Hauts-de-Seine   Val-de-Marne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Départements où le m² est le plus élevé</a:t>
            </a:r>
            <a:endParaRPr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Google Shape;344;p42">
            <a:extLst>
              <a:ext uri="{FF2B5EF4-FFF2-40B4-BE49-F238E27FC236}">
                <a16:creationId xmlns:a16="http://schemas.microsoft.com/office/drawing/2014/main" id="{4A9EF103-FB7E-E780-F171-9F0FC515B0A3}"/>
              </a:ext>
            </a:extLst>
          </p:cNvPr>
          <p:cNvSpPr txBox="1">
            <a:spLocks/>
          </p:cNvSpPr>
          <p:nvPr/>
        </p:nvSpPr>
        <p:spPr>
          <a:xfrm>
            <a:off x="867772" y="2571750"/>
            <a:ext cx="7408454" cy="61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fr-FR" sz="2000" b="1" dirty="0">
                <a:solidFill>
                  <a:srgbClr val="E26064"/>
                </a:solidFill>
              </a:rPr>
              <a:t>3 764,39 €</a:t>
            </a:r>
          </a:p>
          <a:p>
            <a:pPr marL="0" indent="0" algn="ctr">
              <a:spcBef>
                <a:spcPts val="0"/>
              </a:spcBef>
            </a:pPr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Prix moyen du m² des maisons en Île-de-France</a:t>
            </a:r>
          </a:p>
        </p:txBody>
      </p:sp>
      <p:sp>
        <p:nvSpPr>
          <p:cNvPr id="8" name="Google Shape;344;p42">
            <a:extLst>
              <a:ext uri="{FF2B5EF4-FFF2-40B4-BE49-F238E27FC236}">
                <a16:creationId xmlns:a16="http://schemas.microsoft.com/office/drawing/2014/main" id="{D2F4D533-15FB-3B8E-1C55-FDFD9E806D9A}"/>
              </a:ext>
            </a:extLst>
          </p:cNvPr>
          <p:cNvSpPr txBox="1">
            <a:spLocks/>
          </p:cNvSpPr>
          <p:nvPr/>
        </p:nvSpPr>
        <p:spPr>
          <a:xfrm>
            <a:off x="867772" y="3798038"/>
            <a:ext cx="7408454" cy="61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fr-FR" sz="2000" b="1" dirty="0">
                <a:solidFill>
                  <a:srgbClr val="E26064"/>
                </a:solidFill>
              </a:rPr>
              <a:t>9 000 000 €</a:t>
            </a:r>
          </a:p>
          <a:p>
            <a:pPr marL="0" indent="0" algn="ctr">
              <a:spcBef>
                <a:spcPts val="0"/>
              </a:spcBef>
            </a:pPr>
            <a:r>
              <a:rPr lang="fr-FR" dirty="0">
                <a:solidFill>
                  <a:schemeClr val="tx1">
                    <a:lumMod val="75000"/>
                  </a:schemeClr>
                </a:solidFill>
              </a:rPr>
              <a:t>Prix auquel a été vendu un bien de 9,1m² en Île-de-France</a:t>
            </a:r>
          </a:p>
        </p:txBody>
      </p:sp>
    </p:spTree>
    <p:extLst>
      <p:ext uri="{BB962C8B-B14F-4D97-AF65-F5344CB8AC3E}">
        <p14:creationId xmlns:p14="http://schemas.microsoft.com/office/powerpoint/2010/main" val="2652996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 dirty="0">
                <a:solidFill>
                  <a:srgbClr val="E26064"/>
                </a:solidFill>
              </a:rPr>
              <a:t>Merci !</a:t>
            </a:r>
            <a:endParaRPr dirty="0">
              <a:solidFill>
                <a:srgbClr val="E26064"/>
              </a:solidFill>
            </a:endParaRPr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>
          <a:extLst>
            <a:ext uri="{FF2B5EF4-FFF2-40B4-BE49-F238E27FC236}">
              <a16:creationId xmlns:a16="http://schemas.microsoft.com/office/drawing/2014/main" id="{2792361D-ED68-3D9B-5096-E1BFF21C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>
            <a:extLst>
              <a:ext uri="{FF2B5EF4-FFF2-40B4-BE49-F238E27FC236}">
                <a16:creationId xmlns:a16="http://schemas.microsoft.com/office/drawing/2014/main" id="{4E84F803-4053-2B0C-3A1D-1DC5C8FEA8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dirty="0">
                <a:solidFill>
                  <a:srgbClr val="E26064"/>
                </a:solidFill>
              </a:rPr>
              <a:t>Annexe</a:t>
            </a:r>
            <a:endParaRPr dirty="0">
              <a:solidFill>
                <a:srgbClr val="E26064"/>
              </a:solidFill>
            </a:endParaRPr>
          </a:p>
        </p:txBody>
      </p:sp>
      <p:sp>
        <p:nvSpPr>
          <p:cNvPr id="266" name="Google Shape;266;p34">
            <a:extLst>
              <a:ext uri="{FF2B5EF4-FFF2-40B4-BE49-F238E27FC236}">
                <a16:creationId xmlns:a16="http://schemas.microsoft.com/office/drawing/2014/main" id="{58F5990F-C112-15BB-FADA-8C8BE48515C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267" name="Google Shape;267;p34">
            <a:extLst>
              <a:ext uri="{FF2B5EF4-FFF2-40B4-BE49-F238E27FC236}">
                <a16:creationId xmlns:a16="http://schemas.microsoft.com/office/drawing/2014/main" id="{B00C8582-65EC-0849-BFC5-F1ED269F03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dirty="0"/>
          </a:p>
        </p:txBody>
      </p:sp>
      <p:pic>
        <p:nvPicPr>
          <p:cNvPr id="268" name="Google Shape;268;p34" title="Horizon">
            <a:extLst>
              <a:ext uri="{FF2B5EF4-FFF2-40B4-BE49-F238E27FC236}">
                <a16:creationId xmlns:a16="http://schemas.microsoft.com/office/drawing/2014/main" id="{61B4D8FA-82F0-DA33-E15E-CCFDAAE3937F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>
            <a:extLst>
              <a:ext uri="{FF2B5EF4-FFF2-40B4-BE49-F238E27FC236}">
                <a16:creationId xmlns:a16="http://schemas.microsoft.com/office/drawing/2014/main" id="{BF835B34-0641-576D-B37C-E124BCBA459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70" name="Google Shape;270;p34">
            <a:extLst>
              <a:ext uri="{FF2B5EF4-FFF2-40B4-BE49-F238E27FC236}">
                <a16:creationId xmlns:a16="http://schemas.microsoft.com/office/drawing/2014/main" id="{F6048F1F-D854-2F51-AE40-ED5A9D70EF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6796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E28530BD-436B-1B35-6B45-87DF9FBC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B0F5922D-EC91-4AA1-CBDC-0A2CBECC8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Indicateurs quantitatifs (1/3)</a:t>
            </a:r>
            <a:endParaRPr sz="2800" dirty="0">
              <a:solidFill>
                <a:srgbClr val="E26064"/>
              </a:solidFill>
            </a:endParaRPr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AA42A81C-3840-C70F-E153-AF2D05DD58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4294B39F-389D-C248-50BE-EA415F5501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FBB21C45-06DA-2B7E-C959-F40B35E037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6931" y="1132957"/>
            <a:ext cx="1196383" cy="34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Requête 2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008D048-7BE9-3C14-2658-7019BE854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4" y="1578576"/>
            <a:ext cx="4399431" cy="72904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B78208D-8676-A9B0-C15E-AFF96112B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96" y="3011217"/>
            <a:ext cx="4070255" cy="1640837"/>
          </a:xfrm>
          <a:prstGeom prst="rect">
            <a:avLst/>
          </a:prstGeom>
        </p:spPr>
      </p:pic>
      <p:sp>
        <p:nvSpPr>
          <p:cNvPr id="6" name="Flèche : bas 5">
            <a:extLst>
              <a:ext uri="{FF2B5EF4-FFF2-40B4-BE49-F238E27FC236}">
                <a16:creationId xmlns:a16="http://schemas.microsoft.com/office/drawing/2014/main" id="{BC3DABD5-7C58-2184-EAA4-FE9507441F17}"/>
              </a:ext>
            </a:extLst>
          </p:cNvPr>
          <p:cNvSpPr/>
          <p:nvPr/>
        </p:nvSpPr>
        <p:spPr>
          <a:xfrm>
            <a:off x="2196353" y="2420471"/>
            <a:ext cx="349623" cy="340658"/>
          </a:xfrm>
          <a:prstGeom prst="downArrow">
            <a:avLst/>
          </a:prstGeom>
          <a:solidFill>
            <a:srgbClr val="E26064"/>
          </a:solidFill>
          <a:ln>
            <a:solidFill>
              <a:srgbClr val="E26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Google Shape;344;p42">
            <a:extLst>
              <a:ext uri="{FF2B5EF4-FFF2-40B4-BE49-F238E27FC236}">
                <a16:creationId xmlns:a16="http://schemas.microsoft.com/office/drawing/2014/main" id="{ED208D50-3B31-3021-98BA-B415707C777F}"/>
              </a:ext>
            </a:extLst>
          </p:cNvPr>
          <p:cNvSpPr txBox="1">
            <a:spLocks/>
          </p:cNvSpPr>
          <p:nvPr/>
        </p:nvSpPr>
        <p:spPr>
          <a:xfrm>
            <a:off x="6867166" y="1136769"/>
            <a:ext cx="1196383" cy="34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GB" dirty="0" err="1"/>
              <a:t>Requête</a:t>
            </a:r>
            <a:r>
              <a:rPr lang="en-GB" dirty="0"/>
              <a:t> 3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827753D-B8F4-8BCA-0C4E-62295BB4F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1647" y="1480823"/>
            <a:ext cx="3753751" cy="124436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B8581AA-F2BB-001B-17EA-FEB12AE6C8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1343" y="3024870"/>
            <a:ext cx="3494357" cy="1963722"/>
          </a:xfrm>
          <a:prstGeom prst="rect">
            <a:avLst/>
          </a:prstGeom>
        </p:spPr>
      </p:pic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F9B6EF6C-EB2F-E8B3-8ECD-356B5E960F78}"/>
              </a:ext>
            </a:extLst>
          </p:cNvPr>
          <p:cNvSpPr/>
          <p:nvPr/>
        </p:nvSpPr>
        <p:spPr>
          <a:xfrm>
            <a:off x="6845873" y="2649165"/>
            <a:ext cx="349623" cy="340658"/>
          </a:xfrm>
          <a:prstGeom prst="downArrow">
            <a:avLst/>
          </a:prstGeom>
          <a:solidFill>
            <a:srgbClr val="E26064"/>
          </a:solidFill>
          <a:ln>
            <a:solidFill>
              <a:srgbClr val="E26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958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968464A1-42B7-EA7A-4C1B-DC86D0CE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BE8A0B65-E526-411C-C510-A3B19DB84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Indicateurs quantitatifs (2/3)</a:t>
            </a:r>
            <a:endParaRPr sz="2800" dirty="0">
              <a:solidFill>
                <a:srgbClr val="E26064"/>
              </a:solidFill>
            </a:endParaRPr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61E26679-44DA-3559-F11A-B801D4491C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3BFD3664-9F53-AF63-FF17-59283FED9D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D1BA01C1-AC42-33BB-2781-9B1AE7065C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6931" y="1132957"/>
            <a:ext cx="1196383" cy="34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Requête 7</a:t>
            </a:r>
            <a:endParaRPr dirty="0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ACD44D6A-088E-CA6C-BDC1-4FA111CAFF1E}"/>
              </a:ext>
            </a:extLst>
          </p:cNvPr>
          <p:cNvSpPr/>
          <p:nvPr/>
        </p:nvSpPr>
        <p:spPr>
          <a:xfrm>
            <a:off x="2730165" y="2916337"/>
            <a:ext cx="349623" cy="340658"/>
          </a:xfrm>
          <a:prstGeom prst="downArrow">
            <a:avLst/>
          </a:prstGeom>
          <a:solidFill>
            <a:srgbClr val="E26064"/>
          </a:solidFill>
          <a:ln>
            <a:solidFill>
              <a:srgbClr val="E26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Google Shape;344;p42">
            <a:extLst>
              <a:ext uri="{FF2B5EF4-FFF2-40B4-BE49-F238E27FC236}">
                <a16:creationId xmlns:a16="http://schemas.microsoft.com/office/drawing/2014/main" id="{B884CFDC-8FF3-CD33-686C-3D27F7396734}"/>
              </a:ext>
            </a:extLst>
          </p:cNvPr>
          <p:cNvSpPr txBox="1">
            <a:spLocks/>
          </p:cNvSpPr>
          <p:nvPr/>
        </p:nvSpPr>
        <p:spPr>
          <a:xfrm>
            <a:off x="6867166" y="1136769"/>
            <a:ext cx="1196383" cy="34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GB" dirty="0" err="1"/>
              <a:t>Requête</a:t>
            </a:r>
            <a:r>
              <a:rPr lang="en-GB" dirty="0"/>
              <a:t> 9</a:t>
            </a:r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BCBC302F-7184-9D9B-5C30-4BAD6BDB1123}"/>
              </a:ext>
            </a:extLst>
          </p:cNvPr>
          <p:cNvSpPr/>
          <p:nvPr/>
        </p:nvSpPr>
        <p:spPr>
          <a:xfrm>
            <a:off x="6845873" y="2649165"/>
            <a:ext cx="349623" cy="340658"/>
          </a:xfrm>
          <a:prstGeom prst="downArrow">
            <a:avLst/>
          </a:prstGeom>
          <a:solidFill>
            <a:srgbClr val="E26064"/>
          </a:solidFill>
          <a:ln>
            <a:solidFill>
              <a:srgbClr val="E26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2EC9CCB-9FFA-98BE-2240-EDC9B2A24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3" y="1575500"/>
            <a:ext cx="6024282" cy="115367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5A3BEAC4-9F1C-E51E-DCDE-CEB81DF61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290" y="3481042"/>
            <a:ext cx="3755372" cy="854363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4FE8D27-781D-089B-4DA5-682BFE67C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8507" y="1492935"/>
            <a:ext cx="3605493" cy="94323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12482CC-321A-74E7-7F0B-70CEECC30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1712" y="3122719"/>
            <a:ext cx="3086101" cy="176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47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B4B984EC-2F2A-2C56-FE49-E00F1ED7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D7508334-1391-2688-8026-36B44B983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Indicateurs quantitatifs (3/3)</a:t>
            </a:r>
            <a:endParaRPr sz="2800" dirty="0">
              <a:solidFill>
                <a:srgbClr val="E26064"/>
              </a:solidFill>
            </a:endParaRPr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F9D17453-3F42-35F7-8F80-26D8740861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7F2A660C-F44E-D9D7-8FC8-A6E02A7B04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14606B81-C81B-2582-8B18-AB6F8EACD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22464" y="1149766"/>
            <a:ext cx="1196383" cy="34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Requête 12</a:t>
            </a:r>
            <a:endParaRPr dirty="0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A99F4DD0-017E-28A2-7BA1-6FC52B3651E8}"/>
              </a:ext>
            </a:extLst>
          </p:cNvPr>
          <p:cNvSpPr/>
          <p:nvPr/>
        </p:nvSpPr>
        <p:spPr>
          <a:xfrm>
            <a:off x="4222377" y="2703651"/>
            <a:ext cx="349623" cy="340658"/>
          </a:xfrm>
          <a:prstGeom prst="downArrow">
            <a:avLst/>
          </a:prstGeom>
          <a:solidFill>
            <a:srgbClr val="E26064"/>
          </a:solidFill>
          <a:ln>
            <a:solidFill>
              <a:srgbClr val="E26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627DB5-FDAB-C774-9E5C-F60C21DAC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133" y="1692682"/>
            <a:ext cx="7147095" cy="86097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C382BF1-8071-D26B-5672-2DB9979F6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575" y="3194301"/>
            <a:ext cx="5182160" cy="194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17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66C6182-55DB-CD25-475C-EABB35F16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E295AB69-AE00-5BF9-2040-39929E0E89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Indicateurs de valeurs foncières (1/3)</a:t>
            </a:r>
            <a:endParaRPr sz="2800" dirty="0">
              <a:solidFill>
                <a:srgbClr val="E26064"/>
              </a:solidFill>
            </a:endParaRPr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1EB4CE9C-3151-5995-B75C-EAC4B6008C3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116A6E63-1DC9-7A2B-83C0-582FDEC3A6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93494D12-4770-9B1D-8226-47EB76519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6931" y="1132957"/>
            <a:ext cx="1196383" cy="34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Requête 4</a:t>
            </a:r>
            <a:endParaRPr dirty="0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7726D661-D069-EFB7-016F-FEA19A77ED8E}"/>
              </a:ext>
            </a:extLst>
          </p:cNvPr>
          <p:cNvSpPr/>
          <p:nvPr/>
        </p:nvSpPr>
        <p:spPr>
          <a:xfrm>
            <a:off x="2123316" y="2620471"/>
            <a:ext cx="349623" cy="340658"/>
          </a:xfrm>
          <a:prstGeom prst="downArrow">
            <a:avLst/>
          </a:prstGeom>
          <a:solidFill>
            <a:srgbClr val="E26064"/>
          </a:solidFill>
          <a:ln>
            <a:solidFill>
              <a:srgbClr val="E26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Google Shape;344;p42">
            <a:extLst>
              <a:ext uri="{FF2B5EF4-FFF2-40B4-BE49-F238E27FC236}">
                <a16:creationId xmlns:a16="http://schemas.microsoft.com/office/drawing/2014/main" id="{B571BC28-EAE2-5474-0849-6C16956B2C13}"/>
              </a:ext>
            </a:extLst>
          </p:cNvPr>
          <p:cNvSpPr txBox="1">
            <a:spLocks/>
          </p:cNvSpPr>
          <p:nvPr/>
        </p:nvSpPr>
        <p:spPr>
          <a:xfrm>
            <a:off x="6867166" y="1136769"/>
            <a:ext cx="1196383" cy="34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GB" dirty="0" err="1"/>
              <a:t>Requête</a:t>
            </a:r>
            <a:r>
              <a:rPr lang="en-GB" dirty="0"/>
              <a:t> 5</a:t>
            </a:r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1599B78D-727C-2F04-5978-83A921A68F19}"/>
              </a:ext>
            </a:extLst>
          </p:cNvPr>
          <p:cNvSpPr/>
          <p:nvPr/>
        </p:nvSpPr>
        <p:spPr>
          <a:xfrm>
            <a:off x="7115734" y="2634801"/>
            <a:ext cx="349623" cy="340658"/>
          </a:xfrm>
          <a:prstGeom prst="downArrow">
            <a:avLst/>
          </a:prstGeom>
          <a:solidFill>
            <a:srgbClr val="E26064"/>
          </a:solidFill>
          <a:ln>
            <a:solidFill>
              <a:srgbClr val="E26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EC915CA-2259-64B3-4B01-7FBF5749E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3" y="1480823"/>
            <a:ext cx="5029200" cy="96324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8A8211C-7A89-862C-5D94-A4CAD93B8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46" y="3160152"/>
            <a:ext cx="3254749" cy="19032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A3C74B0-51E5-0618-CD28-46E49A2D6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0753" y="1586519"/>
            <a:ext cx="3823247" cy="75185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BC6D75A-30DA-B4B9-3C04-3E80CFC1C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6569" y="3446640"/>
            <a:ext cx="3178829" cy="67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64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FE1754E-509F-5826-B39E-32D43A12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A610F02F-04FA-C667-1E83-0DEB50F3F9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Indicateurs de valeurs foncières (2/3)</a:t>
            </a:r>
            <a:endParaRPr sz="2800" dirty="0">
              <a:solidFill>
                <a:srgbClr val="E26064"/>
              </a:solidFill>
            </a:endParaRPr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8934ABB9-7A17-C56A-BB81-FB4FCEDFC7F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21E57D89-459F-FE89-A10D-43C57F68AD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DD29A3C9-D2B3-F13D-C389-C48A016086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6931" y="1132957"/>
            <a:ext cx="1196383" cy="34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Requête 6</a:t>
            </a:r>
            <a:endParaRPr dirty="0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5B86C22F-0100-C50C-E23F-554361A4A3F4}"/>
              </a:ext>
            </a:extLst>
          </p:cNvPr>
          <p:cNvSpPr/>
          <p:nvPr/>
        </p:nvSpPr>
        <p:spPr>
          <a:xfrm>
            <a:off x="2590800" y="2525091"/>
            <a:ext cx="349623" cy="340658"/>
          </a:xfrm>
          <a:prstGeom prst="downArrow">
            <a:avLst/>
          </a:prstGeom>
          <a:solidFill>
            <a:srgbClr val="E26064"/>
          </a:solidFill>
          <a:ln>
            <a:solidFill>
              <a:srgbClr val="E26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Google Shape;344;p42">
            <a:extLst>
              <a:ext uri="{FF2B5EF4-FFF2-40B4-BE49-F238E27FC236}">
                <a16:creationId xmlns:a16="http://schemas.microsoft.com/office/drawing/2014/main" id="{56D3BC50-7C33-F989-18D2-A686E7861105}"/>
              </a:ext>
            </a:extLst>
          </p:cNvPr>
          <p:cNvSpPr txBox="1">
            <a:spLocks/>
          </p:cNvSpPr>
          <p:nvPr/>
        </p:nvSpPr>
        <p:spPr>
          <a:xfrm>
            <a:off x="6638925" y="1128729"/>
            <a:ext cx="1196383" cy="34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GB" dirty="0" err="1"/>
              <a:t>Requête</a:t>
            </a:r>
            <a:r>
              <a:rPr lang="en-GB" dirty="0"/>
              <a:t> 8</a:t>
            </a:r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43B65A41-4439-2F8B-B4F7-CCAF8BD34694}"/>
              </a:ext>
            </a:extLst>
          </p:cNvPr>
          <p:cNvSpPr/>
          <p:nvPr/>
        </p:nvSpPr>
        <p:spPr>
          <a:xfrm>
            <a:off x="7022726" y="3044768"/>
            <a:ext cx="349623" cy="340658"/>
          </a:xfrm>
          <a:prstGeom prst="downArrow">
            <a:avLst/>
          </a:prstGeom>
          <a:solidFill>
            <a:srgbClr val="E26064"/>
          </a:solidFill>
          <a:ln>
            <a:solidFill>
              <a:srgbClr val="E26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9BBB0CB-861F-9146-7652-7E630EB7B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6" y="1480823"/>
            <a:ext cx="5701553" cy="91374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98660B2-E3C6-C49D-8DF5-09E3BBF51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84" y="2919262"/>
            <a:ext cx="3743721" cy="219238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80F43F2-D570-4A65-B2F6-78940A90FA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453" y="2121352"/>
            <a:ext cx="4242547" cy="79791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BC26F68-B76D-1AF3-8671-390DB86B4A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0860" y="3476300"/>
            <a:ext cx="2956953" cy="16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9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DD20D5F-29B4-5C42-E6BD-8DFD8B095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A14CB2B3-00C6-73C0-FC07-D23D6B8FE7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sz="2800" b="0" dirty="0">
                <a:solidFill>
                  <a:srgbClr val="E26064"/>
                </a:solidFill>
              </a:rPr>
              <a:t>Indicateurs de valeurs foncières (3/3)</a:t>
            </a:r>
            <a:endParaRPr sz="2800" dirty="0">
              <a:solidFill>
                <a:srgbClr val="E26064"/>
              </a:solidFill>
            </a:endParaRPr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BA02A5D4-C2A1-7C4B-B952-B33E04B1E3B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D310C80D-15A3-7985-B099-78C28B0A87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4298BE82-5956-47AB-C58C-E5B44A4568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6931" y="1132957"/>
            <a:ext cx="1196383" cy="34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 dirty="0"/>
              <a:t>Requête 10</a:t>
            </a:r>
            <a:endParaRPr dirty="0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6A0A955F-8115-5A56-03BF-E48F2B279065}"/>
              </a:ext>
            </a:extLst>
          </p:cNvPr>
          <p:cNvSpPr/>
          <p:nvPr/>
        </p:nvSpPr>
        <p:spPr>
          <a:xfrm>
            <a:off x="2532039" y="3242623"/>
            <a:ext cx="349623" cy="340658"/>
          </a:xfrm>
          <a:prstGeom prst="downArrow">
            <a:avLst/>
          </a:prstGeom>
          <a:solidFill>
            <a:srgbClr val="E26064"/>
          </a:solidFill>
          <a:ln>
            <a:solidFill>
              <a:srgbClr val="E26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Google Shape;344;p42">
            <a:extLst>
              <a:ext uri="{FF2B5EF4-FFF2-40B4-BE49-F238E27FC236}">
                <a16:creationId xmlns:a16="http://schemas.microsoft.com/office/drawing/2014/main" id="{9990C14E-80A3-0097-19FB-8D40DD384E35}"/>
              </a:ext>
            </a:extLst>
          </p:cNvPr>
          <p:cNvSpPr txBox="1">
            <a:spLocks/>
          </p:cNvSpPr>
          <p:nvPr/>
        </p:nvSpPr>
        <p:spPr>
          <a:xfrm>
            <a:off x="6867166" y="1136769"/>
            <a:ext cx="1196383" cy="34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GB" dirty="0" err="1"/>
              <a:t>Requête</a:t>
            </a:r>
            <a:r>
              <a:rPr lang="en-GB" dirty="0"/>
              <a:t> 11</a:t>
            </a:r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BECA260F-2D31-B402-F618-C450E076AF32}"/>
              </a:ext>
            </a:extLst>
          </p:cNvPr>
          <p:cNvSpPr/>
          <p:nvPr/>
        </p:nvSpPr>
        <p:spPr>
          <a:xfrm>
            <a:off x="7290545" y="2953209"/>
            <a:ext cx="349623" cy="340658"/>
          </a:xfrm>
          <a:prstGeom prst="downArrow">
            <a:avLst/>
          </a:prstGeom>
          <a:solidFill>
            <a:srgbClr val="E26064"/>
          </a:solidFill>
          <a:ln>
            <a:solidFill>
              <a:srgbClr val="E26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C335942-9241-C7C3-3F19-5D91B8858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0794"/>
            <a:ext cx="5432612" cy="175274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3842494-27D7-A05B-4A9F-D0694750E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281" y="3757787"/>
            <a:ext cx="3651437" cy="83497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5F6ED69-8029-4B47-8363-656441752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8088" y="1480823"/>
            <a:ext cx="3732899" cy="144146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2D5D655-9AD7-5EA3-78E1-1FA6179892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9043" y="3385358"/>
            <a:ext cx="2790988" cy="154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1843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1769</TotalTime>
  <Words>421</Words>
  <Application>Microsoft Office PowerPoint</Application>
  <PresentationFormat>Affichage à l'écran (16:9)</PresentationFormat>
  <Paragraphs>112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Open Sans</vt:lpstr>
      <vt:lpstr>Arial Black</vt:lpstr>
      <vt:lpstr>Arial</vt:lpstr>
      <vt:lpstr>Calibri</vt:lpstr>
      <vt:lpstr>Simple Light</vt:lpstr>
      <vt:lpstr>Thème Office</vt:lpstr>
      <vt:lpstr> Indicateurs et  état du marché immobilier   Création et utilisation  de la base de données</vt:lpstr>
      <vt:lpstr>Contexte du projet</vt:lpstr>
      <vt:lpstr>Présentation PowerPoint</vt:lpstr>
      <vt:lpstr>Les données initiales</vt:lpstr>
      <vt:lpstr>Présentation PowerPoint</vt:lpstr>
      <vt:lpstr>Le schéma relationnel normalisé</vt:lpstr>
      <vt:lpstr>La base de données avec les tables créées et les données chargées</vt:lpstr>
      <vt:lpstr>Les requêtes ou screenshot qui permettent de démontrer le bon chargement des données</vt:lpstr>
      <vt:lpstr>Requêtes SQL et résultats</vt:lpstr>
      <vt:lpstr>Requête 1 (indicateur quantitatif)</vt:lpstr>
      <vt:lpstr>Insights 1 issus des indicateurs quantitatifs</vt:lpstr>
      <vt:lpstr>Insights 2 issus des indicateurs de valeurs foncieères</vt:lpstr>
      <vt:lpstr>Merci !</vt:lpstr>
      <vt:lpstr>Annexe</vt:lpstr>
      <vt:lpstr>Indicateurs quantitatifs (1/3)</vt:lpstr>
      <vt:lpstr>Indicateurs quantitatifs (2/3)</vt:lpstr>
      <vt:lpstr>Indicateurs quantitatifs (3/3)</vt:lpstr>
      <vt:lpstr>Indicateurs de valeurs foncières (1/3)</vt:lpstr>
      <vt:lpstr>Indicateurs de valeurs foncières (2/3)</vt:lpstr>
      <vt:lpstr>Indicateurs de valeurs foncières (3/3)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Sophie</dc:creator>
  <cp:lastModifiedBy>SOPHIE KIM</cp:lastModifiedBy>
  <cp:revision>21</cp:revision>
  <dcterms:modified xsi:type="dcterms:W3CDTF">2025-02-06T11:21:20Z</dcterms:modified>
</cp:coreProperties>
</file>